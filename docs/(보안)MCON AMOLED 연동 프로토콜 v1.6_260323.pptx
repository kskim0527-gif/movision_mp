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7" r:id="rId2"/>
    <p:sldMasterId id="2147483652" r:id="rId3"/>
  </p:sldMasterIdLst>
  <p:notesMasterIdLst>
    <p:notesMasterId r:id="rId35"/>
  </p:notesMasterIdLst>
  <p:sldIdLst>
    <p:sldId id="343" r:id="rId4"/>
    <p:sldId id="366" r:id="rId5"/>
    <p:sldId id="368" r:id="rId6"/>
    <p:sldId id="369" r:id="rId7"/>
    <p:sldId id="370" r:id="rId8"/>
    <p:sldId id="371" r:id="rId9"/>
    <p:sldId id="372" r:id="rId10"/>
    <p:sldId id="373" r:id="rId11"/>
    <p:sldId id="375" r:id="rId12"/>
    <p:sldId id="376" r:id="rId13"/>
    <p:sldId id="377" r:id="rId14"/>
    <p:sldId id="378" r:id="rId15"/>
    <p:sldId id="379" r:id="rId16"/>
    <p:sldId id="380" r:id="rId17"/>
    <p:sldId id="382" r:id="rId18"/>
    <p:sldId id="394" r:id="rId19"/>
    <p:sldId id="395" r:id="rId20"/>
    <p:sldId id="384" r:id="rId21"/>
    <p:sldId id="385" r:id="rId22"/>
    <p:sldId id="386" r:id="rId23"/>
    <p:sldId id="387" r:id="rId24"/>
    <p:sldId id="388" r:id="rId25"/>
    <p:sldId id="389" r:id="rId26"/>
    <p:sldId id="400" r:id="rId27"/>
    <p:sldId id="401" r:id="rId28"/>
    <p:sldId id="402" r:id="rId29"/>
    <p:sldId id="396" r:id="rId30"/>
    <p:sldId id="397" r:id="rId31"/>
    <p:sldId id="398" r:id="rId32"/>
    <p:sldId id="399" r:id="rId33"/>
    <p:sldId id="403" r:id="rId34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333399"/>
    <a:srgbClr val="000068"/>
    <a:srgbClr val="004200"/>
    <a:srgbClr val="002E00"/>
    <a:srgbClr val="006600"/>
    <a:srgbClr val="A2D668"/>
    <a:srgbClr val="0000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97" autoAdjust="0"/>
    <p:restoredTop sz="90482" autoAdjust="0"/>
  </p:normalViewPr>
  <p:slideViewPr>
    <p:cSldViewPr>
      <p:cViewPr varScale="1">
        <p:scale>
          <a:sx n="82" d="100"/>
          <a:sy n="82" d="100"/>
        </p:scale>
        <p:origin x="2028" y="30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42" y="-10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35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65BCA0B-FEA2-4C6D-8135-B5F232A2F2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04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197" indent="0" algn="ctr">
              <a:buNone/>
              <a:defRPr/>
            </a:lvl2pPr>
            <a:lvl3pPr marL="914395" indent="0" algn="ctr">
              <a:buNone/>
              <a:defRPr/>
            </a:lvl3pPr>
            <a:lvl4pPr marL="1371592" indent="0" algn="ctr">
              <a:buNone/>
              <a:defRPr/>
            </a:lvl4pPr>
            <a:lvl5pPr marL="1828789" indent="0" algn="ctr">
              <a:buNone/>
              <a:defRPr/>
            </a:lvl5pPr>
            <a:lvl6pPr marL="2285987" indent="0" algn="ctr">
              <a:buNone/>
              <a:defRPr/>
            </a:lvl6pPr>
            <a:lvl7pPr marL="2743184" indent="0" algn="ctr">
              <a:buNone/>
              <a:defRPr/>
            </a:lvl7pPr>
            <a:lvl8pPr marL="3200381" indent="0" algn="ctr">
              <a:buNone/>
              <a:defRPr/>
            </a:lvl8pPr>
            <a:lvl9pPr marL="3657579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27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2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76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8200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1BED0B0-6DB8-07D0-79C2-2E7DEB487DD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662" y="188640"/>
            <a:ext cx="1515338" cy="3220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7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97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9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9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89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8" indent="-34289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993" indent="-22859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91" indent="-22859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388" indent="-22859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585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83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80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77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2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9A77F8F-9608-4520-8017-5E4B26AB054F}" type="datetimeFigureOut">
              <a:rPr lang="ko-KR" altLang="en-US"/>
              <a:pPr>
                <a:defRPr/>
              </a:pPr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E7F788-7958-4CC9-BA86-4417EA3464E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39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592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789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898" indent="-342898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7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7" descr="슬로건단독형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581777"/>
            <a:ext cx="15875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3" descr="logo0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/>
          <a:stretch>
            <a:fillRect/>
          </a:stretch>
        </p:blipFill>
        <p:spPr bwMode="auto">
          <a:xfrm>
            <a:off x="8599489" y="19050"/>
            <a:ext cx="1249362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97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9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9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89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98" indent="-34289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993" indent="-22859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91" indent="-22859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388" indent="-22859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585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83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80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77" indent="-22859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-1"/>
            <a:ext cx="9906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961691" y="4797153"/>
            <a:ext cx="1893714" cy="885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 algn="ctr">
              <a:spcBef>
                <a:spcPct val="20000"/>
              </a:spcBef>
            </a:pPr>
            <a:r>
              <a:rPr lang="en-US" altLang="ko-KR" sz="24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</a:t>
            </a:r>
            <a:r>
              <a:rPr lang="ko-KR" altLang="en-US" sz="24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02. 26 </a:t>
            </a:r>
          </a:p>
          <a:p>
            <a:pPr marL="342898" indent="-342898" algn="ctr">
              <a:spcBef>
                <a:spcPct val="20000"/>
              </a:spcBef>
            </a:pPr>
            <a:r>
              <a:rPr lang="ko-KR" altLang="en-US" sz="2400" u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텔레컨스</a:t>
            </a:r>
            <a:endParaRPr lang="en-US" altLang="ko-KR" sz="24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3" name="AutoShape 5" descr="표지 -white33"/>
          <p:cNvSpPr>
            <a:spLocks noChangeArrowheads="1"/>
          </p:cNvSpPr>
          <p:nvPr/>
        </p:nvSpPr>
        <p:spPr bwMode="auto">
          <a:xfrm>
            <a:off x="595313" y="1412876"/>
            <a:ext cx="8715376" cy="2160140"/>
          </a:xfrm>
          <a:prstGeom prst="roundRect">
            <a:avLst>
              <a:gd name="adj" fmla="val 6667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altLang="ko-KR" sz="28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AMOLED Display</a:t>
            </a:r>
            <a:r>
              <a:rPr lang="ko-KR" altLang="en-US" sz="28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단말기와 </a:t>
            </a:r>
            <a:r>
              <a:rPr lang="en-US" altLang="ko-KR" sz="28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MCON </a:t>
            </a:r>
            <a:r>
              <a:rPr lang="ko-KR" altLang="en-US" sz="28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 프로토콜</a:t>
            </a:r>
            <a:endParaRPr lang="en-US" altLang="ko-KR" sz="28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28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spcBef>
                <a:spcPct val="50000"/>
              </a:spcBef>
            </a:pPr>
            <a:r>
              <a:rPr lang="ko-KR" altLang="en-US" sz="20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sz="20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굿윌테크</a:t>
            </a:r>
            <a:endParaRPr lang="en-US" altLang="ko-KR" sz="20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615331-AF97-66F4-6E33-5FBC8B6A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35286"/>
              </p:ext>
            </p:extLst>
          </p:nvPr>
        </p:nvGraphicFramePr>
        <p:xfrm>
          <a:off x="272480" y="1141569"/>
          <a:ext cx="9360595" cy="38652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4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497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버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전</a:t>
                      </a: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개정자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내 용</a:t>
                      </a: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날짜</a:t>
                      </a: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1.0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 err="1">
                          <a:latin typeface="현대하모니 M" pitchFamily="18" charset="-127"/>
                          <a:ea typeface="현대하모니 M" pitchFamily="18" charset="-127"/>
                        </a:rPr>
                        <a:t>Telecons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baseline="0" dirty="0" err="1">
                          <a:latin typeface="현대하모니 M" pitchFamily="18" charset="-127"/>
                          <a:ea typeface="현대하모니 M" pitchFamily="18" charset="-127"/>
                        </a:rPr>
                        <a:t>굿윌테크용</a:t>
                      </a:r>
                      <a:r>
                        <a:rPr lang="ko-KR" altLang="en-US" sz="1400" baseline="0" dirty="0">
                          <a:latin typeface="현대하모니 M" pitchFamily="18" charset="-127"/>
                          <a:ea typeface="현대하모니 M" pitchFamily="18" charset="-127"/>
                        </a:rPr>
                        <a:t> 프로토콜 초안 작성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2025-06-18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1.1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latin typeface="현대하모니 M" pitchFamily="18" charset="-127"/>
                          <a:ea typeface="현대하모니 M" pitchFamily="18" charset="-127"/>
                        </a:rPr>
                        <a:t>Telecons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AMOLED Display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에 표시 사양 수정</a:t>
                      </a: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2025-09-16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solidFill>
                          <a:srgbClr val="C00000"/>
                        </a:solidFill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1.2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latin typeface="현대하모니 M" pitchFamily="18" charset="-127"/>
                          <a:ea typeface="현대하모니 M" pitchFamily="18" charset="-127"/>
                        </a:rPr>
                        <a:t>Telecons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표시 항목 추가</a:t>
                      </a: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2025-10-30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1.3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 </a:t>
                      </a:r>
                      <a:r>
                        <a:rPr lang="en-US" altLang="ko-KR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Telecons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프로토콜</a:t>
                      </a:r>
                      <a:r>
                        <a:rPr lang="ko-KR" altLang="en-US" sz="1400" baseline="0" dirty="0">
                          <a:latin typeface="현대하모니 M" pitchFamily="18" charset="-127"/>
                          <a:ea typeface="현대하모니 M" pitchFamily="18" charset="-127"/>
                        </a:rPr>
                        <a:t> 표기 오류 수정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2026-01-06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4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1.4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Telecons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조도설정 프로토콜 변경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도로명</a:t>
                      </a: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 프로토콜 추가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목적지 모드 프로토콜 추가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목적지 도착 프로토콜 추가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이미지 전송 프로토콜 추가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2026-02-13</a:t>
                      </a:r>
                      <a:endParaRPr lang="ko-KR" altLang="en-US" sz="140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3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1.5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latin typeface="현대하모니 M" pitchFamily="18" charset="-127"/>
                          <a:ea typeface="현대하모니 M" pitchFamily="18" charset="-127"/>
                        </a:rPr>
                        <a:t>Telecons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조도설정 프로토콜 변경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이미지 상태 프로토콜 추가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2026-02-26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3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1.6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Telecons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400" dirty="0">
                          <a:latin typeface="현대하모니 M" pitchFamily="18" charset="-127"/>
                          <a:ea typeface="현대하모니 M" pitchFamily="18" charset="-127"/>
                        </a:rPr>
                        <a:t>이미지 전송 프로토콜 수정</a:t>
                      </a:r>
                      <a:endParaRPr lang="en-US" altLang="ko-KR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현대하모니 M" pitchFamily="18" charset="-127"/>
                          <a:ea typeface="현대하모니 M" pitchFamily="18" charset="-127"/>
                        </a:rPr>
                        <a:t>2026-03-23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1" marR="72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5101884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HISTORY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27C31D-E5A2-F127-61CD-B6A069AEACB1}"/>
              </a:ext>
            </a:extLst>
          </p:cNvPr>
          <p:cNvSpPr/>
          <p:nvPr/>
        </p:nvSpPr>
        <p:spPr>
          <a:xfrm>
            <a:off x="8625408" y="1988840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625408" y="2420888"/>
            <a:ext cx="864096" cy="246221"/>
          </a:xfrm>
          <a:prstGeom prst="rect">
            <a:avLst/>
          </a:prstGeom>
          <a:solidFill>
            <a:srgbClr val="3181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625408" y="2750731"/>
            <a:ext cx="864096" cy="246221"/>
          </a:xfrm>
          <a:prstGeom prst="rect">
            <a:avLst/>
          </a:prstGeom>
          <a:solidFill>
            <a:srgbClr val="0000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625408" y="3557916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648823" y="4355085"/>
            <a:ext cx="864096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266334887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목차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2888A4-4D79-1F2A-DC24-E8F26388F092}"/>
              </a:ext>
            </a:extLst>
          </p:cNvPr>
          <p:cNvSpPr txBox="1">
            <a:spLocks/>
          </p:cNvSpPr>
          <p:nvPr/>
        </p:nvSpPr>
        <p:spPr>
          <a:xfrm>
            <a:off x="776537" y="1268761"/>
            <a:ext cx="2664296" cy="50405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20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Protocols</a:t>
            </a:r>
            <a:endParaRPr lang="ko-KR" altLang="en-US" sz="20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B409F1E5-2CB9-DE8A-652E-B885E622AA35}"/>
              </a:ext>
            </a:extLst>
          </p:cNvPr>
          <p:cNvSpPr txBox="1">
            <a:spLocks/>
          </p:cNvSpPr>
          <p:nvPr/>
        </p:nvSpPr>
        <p:spPr>
          <a:xfrm>
            <a:off x="1064568" y="1916832"/>
            <a:ext cx="5688632" cy="34563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ko-KR" altLang="en-US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메시지 타입과 </a:t>
            </a: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UUID ………………………………………………. 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2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 </a:t>
            </a: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…………………………………………. 5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2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Device</a:t>
            </a:r>
            <a:r>
              <a:rPr lang="ko-KR" altLang="en-US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 </a:t>
            </a: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…………………………………….. 18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2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F/W </a:t>
            </a:r>
            <a:r>
              <a:rPr lang="ko-KR" altLang="en-US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 </a:t>
            </a: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………………………………………………………… 20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2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부팅영상 전송 </a:t>
            </a: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…….…………………………………………………. 24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2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전송 </a:t>
            </a:r>
            <a:r>
              <a:rPr lang="en-US" altLang="ko-KR" sz="12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…….….…………………………………………………. 27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2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sz="1200" u="none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842064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메세지 타입과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UUID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1070612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메시지 타입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307976" y="4223410"/>
            <a:ext cx="306084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AMOLED DISPLAY UUID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25435"/>
              </p:ext>
            </p:extLst>
          </p:nvPr>
        </p:nvGraphicFramePr>
        <p:xfrm>
          <a:off x="416496" y="1775138"/>
          <a:ext cx="8543927" cy="925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0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05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05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8610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Message Format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1st Byte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2nd Byte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3rd Byte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4th Byte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Bytes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 Byte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Header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Len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Payload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Tail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0x19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0x4D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 1)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 2)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0x2f</a:t>
                      </a:r>
                      <a:endParaRPr lang="ko-KR" sz="10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44488" y="2888979"/>
            <a:ext cx="634981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95" eaLnBrk="0" latinLnBrk="0" hangingPunct="0"/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Note 1) </a:t>
            </a:r>
            <a:r>
              <a:rPr kumimoji="0" lang="ko-KR" altLang="en-US" sz="10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각 프로토콜의 항목을 구분한다</a:t>
            </a:r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  <a:p>
            <a:pPr defTabSz="914395" eaLnBrk="0" latinLnBrk="0" hangingPunct="0"/>
            <a:endParaRPr kumimoji="0" lang="en-US" altLang="ko-KR" sz="6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395" eaLnBrk="0" latinLnBrk="0" hangingPunct="0"/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Note 2) Payload bytes Data length.</a:t>
            </a:r>
          </a:p>
          <a:p>
            <a:pPr defTabSz="914395" eaLnBrk="0" latinLnBrk="0" hangingPunct="0"/>
            <a:endParaRPr kumimoji="0" lang="en-US" altLang="ko-KR" sz="6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395" eaLnBrk="0" latinLnBrk="0" hangingPunct="0"/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Note 3) Header</a:t>
            </a:r>
            <a:r>
              <a:rPr kumimoji="0" lang="ko-KR" altLang="en-US" sz="10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와 </a:t>
            </a:r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ID, Tail</a:t>
            </a:r>
            <a:r>
              <a:rPr kumimoji="0" lang="ko-KR" altLang="en-US" sz="10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은 고정 </a:t>
            </a:r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Value/</a:t>
            </a:r>
            <a:r>
              <a:rPr kumimoji="0" lang="ko-KR" altLang="en-US" sz="10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값이며 메세지의 시작과 프로토콜 아이디</a:t>
            </a:r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kumimoji="0" lang="ko-KR" altLang="en-US" sz="10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메세지 종료를 의미한다</a:t>
            </a:r>
            <a:r>
              <a:rPr kumimoji="0"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kumimoji="0" lang="en-US" altLang="ko-KR" sz="18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344490" y="4707721"/>
            <a:ext cx="358944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48" indent="-171448">
              <a:buFont typeface="Arial" panose="020B0604020202020204" pitchFamily="34" charset="0"/>
              <a:buChar char="•"/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Scan UUID : 00001812-0000-1000-8000-00805f9b34fb</a:t>
            </a:r>
          </a:p>
          <a:p>
            <a:pPr marL="171448" indent="-171448">
              <a:buFont typeface="Arial" panose="020B0604020202020204" pitchFamily="34" charset="0"/>
              <a:buChar char="•"/>
            </a:pPr>
            <a:endParaRPr lang="ko-KR" altLang="ko-KR" sz="10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48" indent="-171448">
              <a:buFont typeface="Arial" panose="020B0604020202020204" pitchFamily="34" charset="0"/>
              <a:buChar char="•"/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Service UUID : 0000ffea-0000-1000-8000-00805f9b34fb</a:t>
            </a:r>
          </a:p>
          <a:p>
            <a:pPr marL="171448" indent="-171448">
              <a:buFont typeface="Arial" panose="020B0604020202020204" pitchFamily="34" charset="0"/>
              <a:buChar char="•"/>
            </a:pPr>
            <a:endParaRPr lang="ko-KR" altLang="ko-KR" sz="10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48" indent="-171448">
              <a:buFont typeface="Arial" panose="020B0604020202020204" pitchFamily="34" charset="0"/>
              <a:buChar char="•"/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Read UUID : 0000fff1-0000-1000-8000-00805f9b34fb</a:t>
            </a:r>
          </a:p>
          <a:p>
            <a:pPr marL="171448" indent="-171448">
              <a:buFont typeface="Arial" panose="020B0604020202020204" pitchFamily="34" charset="0"/>
              <a:buChar char="•"/>
            </a:pPr>
            <a:endParaRPr lang="ko-KR" altLang="ko-KR" sz="1000" u="none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48" indent="-171448">
              <a:buFont typeface="Arial" panose="020B0604020202020204" pitchFamily="34" charset="0"/>
              <a:buChar char="•"/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Write UUID : 0000fff2-0000-1000-8000-00805f9b34fb</a:t>
            </a:r>
            <a:endParaRPr lang="ko-KR" altLang="ko-KR" sz="1000" u="none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403205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350400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TBT(Turn By Turn) </a:t>
            </a:r>
            <a:r>
              <a:rPr lang="ko-KR" altLang="ko-KR" sz="1800" u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1/3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12087"/>
              </p:ext>
            </p:extLst>
          </p:nvPr>
        </p:nvGraphicFramePr>
        <p:xfrm>
          <a:off x="992560" y="1124745"/>
          <a:ext cx="7821241" cy="5661426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83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4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4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4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로터리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Show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Hide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9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TBT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방향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직진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좌회전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7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8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 방향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좌회전 방향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좌회전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10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11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 방향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우회전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1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2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 방향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우회전 방향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우회전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4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5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 방향 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45659694-0BCE-ABF4-17BD-C70CCD44D493}"/>
              </a:ext>
            </a:extLst>
          </p:cNvPr>
          <p:cNvSpPr/>
          <p:nvPr/>
        </p:nvSpPr>
        <p:spPr>
          <a:xfrm>
            <a:off x="6753200" y="2636912"/>
            <a:ext cx="2016224" cy="4176464"/>
          </a:xfrm>
          <a:prstGeom prst="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ECA98C-0150-BAF7-C775-3D16B2ED07BF}"/>
              </a:ext>
            </a:extLst>
          </p:cNvPr>
          <p:cNvSpPr/>
          <p:nvPr/>
        </p:nvSpPr>
        <p:spPr>
          <a:xfrm>
            <a:off x="5745088" y="2657748"/>
            <a:ext cx="576064" cy="4104456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D29D5C-FE9B-7E9B-3D16-7E731D34AD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2657748"/>
            <a:ext cx="432048" cy="4320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D4CA01-F82C-DEEA-53BB-F8E2CD3247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3089796"/>
            <a:ext cx="432048" cy="4320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AC8C09-B4A9-E477-D010-2115615F0A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2009676"/>
            <a:ext cx="432000" cy="432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2A2C448-5339-9F68-9971-81E64B0244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3809876"/>
            <a:ext cx="432000" cy="432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7F0DAC3-C175-C233-5A05-9E7AA53767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4457948"/>
            <a:ext cx="432000" cy="43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BA514CA-0E1F-08F5-ECC0-177D7F4E717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6258196"/>
            <a:ext cx="432000" cy="432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02EE55F-1434-0B68-7AB4-4F06F4AD32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5034060"/>
            <a:ext cx="432000" cy="432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CF542CF-05B2-6AF2-160B-F6CA979E36A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5610124"/>
            <a:ext cx="432000" cy="43200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B663A85-6A4D-C575-2FF2-DD027B85993A}"/>
              </a:ext>
            </a:extLst>
          </p:cNvPr>
          <p:cNvSpPr/>
          <p:nvPr/>
        </p:nvSpPr>
        <p:spPr>
          <a:xfrm>
            <a:off x="8841432" y="620688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>
                <a:solidFill>
                  <a:srgbClr val="FFFF00"/>
                </a:solidFill>
              </a:rPr>
              <a:t>변경페이지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0FF93B-0180-A1C8-53FF-01892B400890}"/>
              </a:ext>
            </a:extLst>
          </p:cNvPr>
          <p:cNvSpPr txBox="1"/>
          <p:nvPr/>
        </p:nvSpPr>
        <p:spPr>
          <a:xfrm>
            <a:off x="7113240" y="2204864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V1.1 updated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2E77B9-33B8-37D1-D4AE-DFEF836D2882}"/>
              </a:ext>
            </a:extLst>
          </p:cNvPr>
          <p:cNvSpPr txBox="1"/>
          <p:nvPr/>
        </p:nvSpPr>
        <p:spPr>
          <a:xfrm>
            <a:off x="7113240" y="443711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V1.1 updated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24204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633699"/>
              </p:ext>
            </p:extLst>
          </p:nvPr>
        </p:nvGraphicFramePr>
        <p:xfrm>
          <a:off x="992560" y="1169000"/>
          <a:ext cx="7821241" cy="551166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59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TBT </a:t>
                      </a:r>
                      <a:r>
                        <a:rPr lang="ko-KR" altLang="ko-KR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방향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유턴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고속도로 좌측 진입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고속도로 우측 진입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고속도로 좌측 진출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고속도로 우측 진출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 : </a:t>
                      </a:r>
                      <a:r>
                        <a:rPr 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요금소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휴게소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졸음쉼터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터널 진입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AutoShape 761"/>
          <p:cNvSpPr>
            <a:spLocks noChangeArrowheads="1"/>
          </p:cNvSpPr>
          <p:nvPr/>
        </p:nvSpPr>
        <p:spPr bwMode="auto">
          <a:xfrm>
            <a:off x="296864" y="708250"/>
            <a:ext cx="350400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TBT(Turn By Turn) </a:t>
            </a:r>
            <a:r>
              <a:rPr lang="ko-KR" altLang="ko-KR" sz="1800" u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2/3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7367D4-0EF1-5AF0-CCE4-1B81C84BA3C3}"/>
              </a:ext>
            </a:extLst>
          </p:cNvPr>
          <p:cNvSpPr/>
          <p:nvPr/>
        </p:nvSpPr>
        <p:spPr>
          <a:xfrm>
            <a:off x="5529064" y="1484784"/>
            <a:ext cx="576064" cy="458378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F2B34A9-6B25-A3C3-9B71-B6373A6CA9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072" y="1528440"/>
            <a:ext cx="432000" cy="432000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80FB80-8F08-4CD5-63CE-B67E303F1E27}"/>
              </a:ext>
            </a:extLst>
          </p:cNvPr>
          <p:cNvSpPr/>
          <p:nvPr/>
        </p:nvSpPr>
        <p:spPr>
          <a:xfrm>
            <a:off x="8841432" y="620688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>
                <a:solidFill>
                  <a:srgbClr val="FFFF00"/>
                </a:solidFill>
              </a:rPr>
              <a:t>변경페이지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349D2C-DB0B-6F21-A5E0-BAD330A20CF3}"/>
              </a:ext>
            </a:extLst>
          </p:cNvPr>
          <p:cNvSpPr txBox="1"/>
          <p:nvPr/>
        </p:nvSpPr>
        <p:spPr>
          <a:xfrm>
            <a:off x="7257256" y="155679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V1.1 updated</a:t>
            </a:r>
            <a:endParaRPr lang="ko-KR" altLang="en-US" sz="1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9FAA81-CB0C-9DDB-14CB-E473CEA52D96}"/>
              </a:ext>
            </a:extLst>
          </p:cNvPr>
          <p:cNvSpPr/>
          <p:nvPr/>
        </p:nvSpPr>
        <p:spPr>
          <a:xfrm>
            <a:off x="8841432" y="908720"/>
            <a:ext cx="864096" cy="246221"/>
          </a:xfrm>
          <a:prstGeom prst="rect">
            <a:avLst/>
          </a:prstGeom>
          <a:solidFill>
            <a:srgbClr val="3181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2D32F-EEE7-F00B-D30B-40109B37CBF6}"/>
              </a:ext>
            </a:extLst>
          </p:cNvPr>
          <p:cNvSpPr txBox="1"/>
          <p:nvPr/>
        </p:nvSpPr>
        <p:spPr>
          <a:xfrm>
            <a:off x="7833320" y="5229200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V1.2 updated</a:t>
            </a:r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D6DBB2C-6884-CF5A-3BD6-1B4291566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64" y="2564904"/>
            <a:ext cx="504056" cy="5040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1EB949B-A4D1-85B3-9E7A-B9B1BFF79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64" y="1988840"/>
            <a:ext cx="504056" cy="50405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C0818B1-51D8-266A-246D-B1925B3AA9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64" y="3789040"/>
            <a:ext cx="504056" cy="50405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30AC3B9-E32C-5360-1777-575F69184F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64" y="3140968"/>
            <a:ext cx="504056" cy="50405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8A96F44C-B5D8-F9AD-234D-02C4A8FB0B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9064" y="4509120"/>
            <a:ext cx="615275" cy="432048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DE2D871-7413-A316-C2AF-7A866DD308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9064" y="5157192"/>
            <a:ext cx="625002" cy="48824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8027F2D-86B1-18B6-4062-B4B4D52420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9064" y="5877272"/>
            <a:ext cx="648449" cy="488239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994DCD46-4FF4-A1C2-757E-D07687B23AAE}"/>
              </a:ext>
            </a:extLst>
          </p:cNvPr>
          <p:cNvSpPr/>
          <p:nvPr/>
        </p:nvSpPr>
        <p:spPr>
          <a:xfrm>
            <a:off x="4232920" y="1916832"/>
            <a:ext cx="4752528" cy="4536504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33581" y="1196752"/>
            <a:ext cx="864096" cy="246221"/>
          </a:xfrm>
          <a:prstGeom prst="rect">
            <a:avLst/>
          </a:prstGeom>
          <a:solidFill>
            <a:srgbClr val="0000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F198BF-AED3-90C0-4F06-B63578243B03}"/>
              </a:ext>
            </a:extLst>
          </p:cNvPr>
          <p:cNvSpPr/>
          <p:nvPr/>
        </p:nvSpPr>
        <p:spPr>
          <a:xfrm>
            <a:off x="2430988" y="1442973"/>
            <a:ext cx="936104" cy="452989"/>
          </a:xfrm>
          <a:prstGeom prst="rect">
            <a:avLst/>
          </a:prstGeom>
          <a:ln>
            <a:solidFill>
              <a:srgbClr val="0000FF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364C58-0F39-9AE4-9692-A2CA8F445851}"/>
              </a:ext>
            </a:extLst>
          </p:cNvPr>
          <p:cNvSpPr txBox="1"/>
          <p:nvPr/>
        </p:nvSpPr>
        <p:spPr>
          <a:xfrm>
            <a:off x="2434453" y="1679962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V1.3 updated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1852739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604763"/>
              </p:ext>
            </p:extLst>
          </p:nvPr>
        </p:nvGraphicFramePr>
        <p:xfrm>
          <a:off x="992560" y="1340769"/>
          <a:ext cx="7821241" cy="3748230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371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r>
                        <a:rPr lang="en-US" altLang="ko-KR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altLang="ko-KR" sz="700" strike="sngStrike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TBT </a:t>
                      </a:r>
                      <a:r>
                        <a:rPr lang="ko-KR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방향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고가 진입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고가 우측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17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지하차도 진입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지하차도 우측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우측 유턴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남은 거리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~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남은 거리는 항상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m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단위로 전송한다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5186157"/>
            <a:ext cx="3830142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0x194D010501000000642f (100m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로터리 표시 직진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3" name="AutoShape 761"/>
          <p:cNvSpPr>
            <a:spLocks noChangeArrowheads="1"/>
          </p:cNvSpPr>
          <p:nvPr/>
        </p:nvSpPr>
        <p:spPr bwMode="auto">
          <a:xfrm>
            <a:off x="296864" y="708250"/>
            <a:ext cx="350400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TBT(Turn By Turn) </a:t>
            </a:r>
            <a:r>
              <a:rPr lang="ko-KR" altLang="ko-KR" sz="1800" u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3/3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A92662-B01F-AD3C-EB58-9AB9304B9729}"/>
              </a:ext>
            </a:extLst>
          </p:cNvPr>
          <p:cNvSpPr txBox="1"/>
          <p:nvPr/>
        </p:nvSpPr>
        <p:spPr>
          <a:xfrm>
            <a:off x="5313040" y="4005064"/>
            <a:ext cx="5760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u="none" dirty="0">
                <a:solidFill>
                  <a:srgbClr val="C00000"/>
                </a:solidFill>
                <a:latin typeface="+mj-ea"/>
                <a:ea typeface="+mj-ea"/>
              </a:rPr>
              <a:t>표시 안함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89FBAB-756D-368B-3B4E-D9BFAAA3EFED}"/>
              </a:ext>
            </a:extLst>
          </p:cNvPr>
          <p:cNvSpPr/>
          <p:nvPr/>
        </p:nvSpPr>
        <p:spPr>
          <a:xfrm>
            <a:off x="8841432" y="620688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>
                <a:solidFill>
                  <a:srgbClr val="FFFF00"/>
                </a:solidFill>
              </a:rPr>
              <a:t>변경페이지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B6A78-EDF3-19D8-5250-A47D4391A9C7}"/>
              </a:ext>
            </a:extLst>
          </p:cNvPr>
          <p:cNvSpPr txBox="1"/>
          <p:nvPr/>
        </p:nvSpPr>
        <p:spPr>
          <a:xfrm>
            <a:off x="7257256" y="285293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V1.2 updated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C7D373-47C5-EBF7-7808-299D6A479D2E}"/>
              </a:ext>
            </a:extLst>
          </p:cNvPr>
          <p:cNvSpPr/>
          <p:nvPr/>
        </p:nvSpPr>
        <p:spPr>
          <a:xfrm>
            <a:off x="8841432" y="908720"/>
            <a:ext cx="864096" cy="246221"/>
          </a:xfrm>
          <a:prstGeom prst="rect">
            <a:avLst/>
          </a:prstGeom>
          <a:solidFill>
            <a:srgbClr val="3181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E836564-369E-799F-E59D-16D40366B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87" y="1651923"/>
            <a:ext cx="648449" cy="38192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4CD21E4-E55C-6641-9A9C-97EFFF0F7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040" y="2132856"/>
            <a:ext cx="648449" cy="48823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225D4A6-F027-8DB6-1D67-B0F74A5B2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040" y="2711942"/>
            <a:ext cx="677794" cy="50644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C366FE8-E08A-8748-795F-C3E93FBCA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543" y="3289793"/>
            <a:ext cx="677794" cy="506444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9D3C97-82B0-ECBE-F964-91F87F7547F9}"/>
              </a:ext>
            </a:extLst>
          </p:cNvPr>
          <p:cNvSpPr/>
          <p:nvPr/>
        </p:nvSpPr>
        <p:spPr>
          <a:xfrm>
            <a:off x="4232920" y="1628800"/>
            <a:ext cx="4032448" cy="2376264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41432" y="1196752"/>
            <a:ext cx="864096" cy="246221"/>
          </a:xfrm>
          <a:prstGeom prst="rect">
            <a:avLst/>
          </a:prstGeom>
          <a:solidFill>
            <a:srgbClr val="0000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F198BF-AED3-90C0-4F06-B63578243B03}"/>
              </a:ext>
            </a:extLst>
          </p:cNvPr>
          <p:cNvSpPr/>
          <p:nvPr/>
        </p:nvSpPr>
        <p:spPr>
          <a:xfrm>
            <a:off x="920552" y="1593722"/>
            <a:ext cx="2376264" cy="539134"/>
          </a:xfrm>
          <a:prstGeom prst="rect">
            <a:avLst/>
          </a:prstGeom>
          <a:ln>
            <a:solidFill>
              <a:srgbClr val="0000FF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364C58-0F39-9AE4-9692-A2CA8F445851}"/>
              </a:ext>
            </a:extLst>
          </p:cNvPr>
          <p:cNvSpPr txBox="1"/>
          <p:nvPr/>
        </p:nvSpPr>
        <p:spPr>
          <a:xfrm>
            <a:off x="2391686" y="1910083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V1.3 updated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3851278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안전운전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800" u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19897"/>
              </p:ext>
            </p:extLst>
          </p:nvPr>
        </p:nvGraphicFramePr>
        <p:xfrm>
          <a:off x="992560" y="1340769"/>
          <a:ext cx="7821241" cy="5214395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7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1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strike="noStrike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 strike="noStrike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로터리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strike="sngStrike" baseline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 strike="sngStrike" baseline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Show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strike="sngStrike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strike="sngStrike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strike="sngStrike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Hide</a:t>
                      </a:r>
                      <a:endParaRPr lang="ko-KR" sz="700" strike="sngStrike" baseline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strike="sngStrike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0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카메라 타입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카메라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: </a:t>
                      </a:r>
                      <a:r>
                        <a:rPr 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신호과속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 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어린이보호구역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 : </a:t>
                      </a:r>
                      <a:r>
                        <a:rPr 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주정차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금지 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버스 전용 차로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 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구간단속 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fontAlgn="ctr"/>
                      <a:r>
                        <a:rPr lang="ko-KR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전달되지 않는 값은 소등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lvl="1" fontAlgn="ctr"/>
                      <a:endParaRPr lang="ko-KR" altLang="ko-KR" sz="7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ex1) </a:t>
                      </a:r>
                    </a:p>
                    <a:p>
                      <a:r>
                        <a:rPr lang="ko-KR" altLang="ko-KR" sz="7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주정차금지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+ </a:t>
                      </a:r>
                      <a:r>
                        <a:rPr lang="ko-KR" altLang="ko-KR" sz="7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어리이보호구역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+ </a:t>
                      </a:r>
                      <a:r>
                        <a:rPr lang="ko-KR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카메라 </a:t>
                      </a:r>
                      <a:r>
                        <a:rPr lang="ko-KR" altLang="ko-KR" sz="7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일경우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13(0x0D) </a:t>
                      </a:r>
                      <a:r>
                        <a:rPr lang="ko-KR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나머지 타입은 소등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 </a:t>
                      </a:r>
                    </a:p>
                    <a:p>
                      <a:endParaRPr lang="ko-KR" altLang="ko-KR" sz="7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ex2) </a:t>
                      </a:r>
                    </a:p>
                    <a:p>
                      <a:r>
                        <a:rPr lang="ko-KR" altLang="ko-KR" sz="70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카메라없는</a:t>
                      </a:r>
                      <a:r>
                        <a:rPr lang="ko-KR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어린이보호구역 일 경우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4 (0x04)</a:t>
                      </a:r>
                      <a:endParaRPr lang="ko-KR" altLang="ko-KR" sz="70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93F4E25C-46A0-3F56-ABC8-4C251BEF1A27}"/>
              </a:ext>
            </a:extLst>
          </p:cNvPr>
          <p:cNvGrpSpPr/>
          <p:nvPr/>
        </p:nvGrpSpPr>
        <p:grpSpPr>
          <a:xfrm>
            <a:off x="5601120" y="2996952"/>
            <a:ext cx="432000" cy="3384328"/>
            <a:chOff x="5601120" y="2996952"/>
            <a:chExt cx="432000" cy="3384328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1B8C51BB-FD14-F85E-6DB5-B66F9BB3F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1120" y="5949280"/>
              <a:ext cx="432000" cy="432000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4AA3EDB-1107-9EBD-D178-B50449DC8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1120" y="4725144"/>
              <a:ext cx="432000" cy="4320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1D2378E-5DE5-707C-1E35-66BB93576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1120" y="5373216"/>
              <a:ext cx="432000" cy="4320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D02CD226-98A1-9731-1F46-017DFDC3D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1120" y="4149080"/>
              <a:ext cx="432000" cy="4320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9D401D47-3F04-C95A-19C9-4172F365A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1120" y="3573016"/>
              <a:ext cx="432000" cy="432000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5EDF081-F991-FBCF-779A-81204A8B2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1120" y="2996952"/>
              <a:ext cx="432000" cy="432000"/>
            </a:xfrm>
            <a:prstGeom prst="rect">
              <a:avLst/>
            </a:prstGeom>
          </p:spPr>
        </p:pic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BEB2CE-3EFE-831A-0FEC-7B07E439977B}"/>
              </a:ext>
            </a:extLst>
          </p:cNvPr>
          <p:cNvSpPr/>
          <p:nvPr/>
        </p:nvSpPr>
        <p:spPr>
          <a:xfrm>
            <a:off x="8841432" y="620688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>
                <a:solidFill>
                  <a:srgbClr val="FFFF00"/>
                </a:solidFill>
              </a:rPr>
              <a:t>변경페이지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5195EE-7D30-22C8-0E27-E7B66230A661}"/>
              </a:ext>
            </a:extLst>
          </p:cNvPr>
          <p:cNvSpPr txBox="1"/>
          <p:nvPr/>
        </p:nvSpPr>
        <p:spPr>
          <a:xfrm>
            <a:off x="7113240" y="4653136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V1.1 updated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41432" y="908720"/>
            <a:ext cx="864096" cy="246221"/>
          </a:xfrm>
          <a:prstGeom prst="rect">
            <a:avLst/>
          </a:prstGeom>
          <a:solidFill>
            <a:srgbClr val="0000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F198BF-AED3-90C0-4F06-B63578243B03}"/>
              </a:ext>
            </a:extLst>
          </p:cNvPr>
          <p:cNvSpPr/>
          <p:nvPr/>
        </p:nvSpPr>
        <p:spPr>
          <a:xfrm>
            <a:off x="920552" y="2204864"/>
            <a:ext cx="7920880" cy="792088"/>
          </a:xfrm>
          <a:prstGeom prst="rect">
            <a:avLst/>
          </a:prstGeom>
          <a:ln>
            <a:solidFill>
              <a:srgbClr val="0000FF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64C58-0F39-9AE4-9692-A2CA8F445851}"/>
              </a:ext>
            </a:extLst>
          </p:cNvPr>
          <p:cNvSpPr txBox="1"/>
          <p:nvPr/>
        </p:nvSpPr>
        <p:spPr>
          <a:xfrm>
            <a:off x="7797316" y="2718138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V1.3 updated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6808024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134849"/>
              </p:ext>
            </p:extLst>
          </p:nvPr>
        </p:nvGraphicFramePr>
        <p:xfrm>
          <a:off x="992560" y="1340770"/>
          <a:ext cx="7821241" cy="3680062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TBT </a:t>
                      </a:r>
                      <a:r>
                        <a:rPr lang="ko-KR" altLang="ko-KR" sz="700" strike="sng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방향</a:t>
                      </a: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64: </a:t>
                      </a:r>
                      <a:r>
                        <a:rPr lang="ko-KR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신호단속 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endParaRPr lang="ko-KR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en-US" altLang="ko-KR" sz="7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128: </a:t>
                      </a:r>
                      <a:r>
                        <a:rPr lang="ko-KR" altLang="ko-KR" sz="700" b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과속방지턱 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카메라 제한 속도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~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 경우 카메라 제한 속도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LED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를 소등한다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과속 여부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과속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과속 아님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과속 점멸 등을 깜빡 거린다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남은 거리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0~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남은 거리는 항상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m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단위로 전송한다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안전운전</a:t>
            </a:r>
            <a:r>
              <a:rPr lang="en-US" altLang="ko-KR" sz="1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800" u="none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5186157"/>
            <a:ext cx="6364490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0x194D0206015A010000642f (100m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전방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90km/h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제한속도 감시 카메라가 있으며 현재 과속 중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9DC3A1C-4A9B-DF68-8280-101097008A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64" y="1628800"/>
            <a:ext cx="432000" cy="432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CE9B98F-8E3E-6FD5-8808-EC9B19E5DE33}"/>
              </a:ext>
            </a:extLst>
          </p:cNvPr>
          <p:cNvSpPr/>
          <p:nvPr/>
        </p:nvSpPr>
        <p:spPr>
          <a:xfrm>
            <a:off x="8841432" y="620688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>
                <a:solidFill>
                  <a:srgbClr val="FFFF00"/>
                </a:solidFill>
              </a:rPr>
              <a:t>변경페이지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64C58-0F39-9AE4-9692-A2CA8F445851}"/>
              </a:ext>
            </a:extLst>
          </p:cNvPr>
          <p:cNvSpPr txBox="1"/>
          <p:nvPr/>
        </p:nvSpPr>
        <p:spPr>
          <a:xfrm>
            <a:off x="7257256" y="2204864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V1.2 updated</a:t>
            </a:r>
            <a:endParaRPr lang="ko-KR" alt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36C490-D519-3BCB-350B-F42BDD858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523" y="2197369"/>
            <a:ext cx="686732" cy="5797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2DB08F-0E1C-5641-7868-52339D2EEE1B}"/>
              </a:ext>
            </a:extLst>
          </p:cNvPr>
          <p:cNvSpPr txBox="1"/>
          <p:nvPr/>
        </p:nvSpPr>
        <p:spPr>
          <a:xfrm>
            <a:off x="7257256" y="1700808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V1.1 updated</a:t>
            </a:r>
            <a:endParaRPr lang="ko-KR" altLang="en-US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85BA89-4BDD-5198-6954-294A9DAD4A13}"/>
              </a:ext>
            </a:extLst>
          </p:cNvPr>
          <p:cNvSpPr/>
          <p:nvPr/>
        </p:nvSpPr>
        <p:spPr>
          <a:xfrm>
            <a:off x="8841432" y="908720"/>
            <a:ext cx="864096" cy="246221"/>
          </a:xfrm>
          <a:prstGeom prst="rect">
            <a:avLst/>
          </a:prstGeom>
          <a:solidFill>
            <a:srgbClr val="3181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37766" y="1196752"/>
            <a:ext cx="864096" cy="246221"/>
          </a:xfrm>
          <a:prstGeom prst="rect">
            <a:avLst/>
          </a:prstGeom>
          <a:solidFill>
            <a:srgbClr val="0000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F198BF-AED3-90C0-4F06-B63578243B03}"/>
              </a:ext>
            </a:extLst>
          </p:cNvPr>
          <p:cNvSpPr/>
          <p:nvPr/>
        </p:nvSpPr>
        <p:spPr>
          <a:xfrm>
            <a:off x="2432720" y="1607811"/>
            <a:ext cx="936104" cy="452989"/>
          </a:xfrm>
          <a:prstGeom prst="rect">
            <a:avLst/>
          </a:prstGeom>
          <a:ln>
            <a:solidFill>
              <a:srgbClr val="0000FF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64C58-0F39-9AE4-9692-A2CA8F445851}"/>
              </a:ext>
            </a:extLst>
          </p:cNvPr>
          <p:cNvSpPr txBox="1"/>
          <p:nvPr/>
        </p:nvSpPr>
        <p:spPr>
          <a:xfrm>
            <a:off x="2436185" y="1844800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V1.3 updated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1397831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3)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자차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구간 평균 속도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39731"/>
              </p:ext>
            </p:extLst>
          </p:nvPr>
        </p:nvGraphicFramePr>
        <p:xfrm>
          <a:off x="992560" y="1340770"/>
          <a:ext cx="7821241" cy="2802657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타입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현재 차량 속도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구간 평균 속도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* </a:t>
                      </a:r>
                      <a:r>
                        <a:rPr lang="ko-KR" altLang="en-US" sz="700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현재 차량 속도 </a:t>
                      </a:r>
                      <a:r>
                        <a:rPr lang="en-US" altLang="ko-KR" sz="700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/ </a:t>
                      </a:r>
                      <a:r>
                        <a:rPr lang="ko-KR" altLang="en-US" sz="700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구간 평균 속도 </a:t>
                      </a:r>
                      <a:r>
                        <a:rPr lang="ko-KR" altLang="en-US" sz="700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토글</a:t>
                      </a:r>
                      <a:r>
                        <a:rPr lang="ko-KR" altLang="en-US" sz="700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처리</a:t>
                      </a:r>
                      <a:endParaRPr lang="ko-KR" sz="700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속도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0~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속도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(km/h </a:t>
                      </a: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단위 생략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4354538"/>
            <a:ext cx="4628437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0x194D030201642f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구간 단속에서 평균 속도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100km/h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로 주행 중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0A1D82-7EC2-525E-B190-7FBB35BB68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248" y="3068960"/>
            <a:ext cx="936104" cy="9361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C78E29-6D6A-AE08-C64D-AC3FA5979D2B}"/>
              </a:ext>
            </a:extLst>
          </p:cNvPr>
          <p:cNvSpPr/>
          <p:nvPr/>
        </p:nvSpPr>
        <p:spPr>
          <a:xfrm>
            <a:off x="7041232" y="3068960"/>
            <a:ext cx="1224136" cy="54746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0067BA-3CDB-9D4C-95E1-2DBC458F7E15}"/>
              </a:ext>
            </a:extLst>
          </p:cNvPr>
          <p:cNvSpPr/>
          <p:nvPr/>
        </p:nvSpPr>
        <p:spPr>
          <a:xfrm>
            <a:off x="7473280" y="3734072"/>
            <a:ext cx="360040" cy="288032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766BE6-19DE-F226-FF7D-33A299E2C60F}"/>
              </a:ext>
            </a:extLst>
          </p:cNvPr>
          <p:cNvSpPr/>
          <p:nvPr/>
        </p:nvSpPr>
        <p:spPr>
          <a:xfrm>
            <a:off x="8841432" y="620688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AB1C5-91A1-F687-AAE6-E33BB6CAB7F2}"/>
              </a:ext>
            </a:extLst>
          </p:cNvPr>
          <p:cNvSpPr txBox="1"/>
          <p:nvPr/>
        </p:nvSpPr>
        <p:spPr>
          <a:xfrm>
            <a:off x="8697416" y="2420888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V1.1 updated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5875238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4)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GPS Status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096797"/>
              </p:ext>
            </p:extLst>
          </p:nvPr>
        </p:nvGraphicFramePr>
        <p:xfrm>
          <a:off x="992560" y="1340769"/>
          <a:ext cx="7821241" cy="2078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0x04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타입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 </a:t>
                      </a:r>
                      <a:r>
                        <a:rPr lang="en-US" sz="700" dirty="0">
                          <a:solidFill>
                            <a:srgbClr val="172B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GPS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수신 불가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 </a:t>
                      </a:r>
                      <a:r>
                        <a:rPr lang="en-US" sz="700" dirty="0">
                          <a:solidFill>
                            <a:srgbClr val="172B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GPS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수신 가능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**</a:t>
                      </a:r>
                      <a:r>
                        <a:rPr lang="ko-KR" altLang="en-US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디자인 가이드 참고</a:t>
                      </a:r>
                      <a:endParaRPr lang="en-US" altLang="ko-KR" sz="700" b="1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b="1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GPS </a:t>
                      </a:r>
                      <a:r>
                        <a:rPr lang="ko-KR" altLang="en-US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수신 불가 </a:t>
                      </a: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altLang="en-US" sz="700" b="1" dirty="0" err="1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부팅시</a:t>
                      </a: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부팅 후 터널진입시</a:t>
                      </a: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b="1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b="1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GPS </a:t>
                      </a:r>
                      <a:r>
                        <a:rPr lang="ko-KR" altLang="en-US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수신 가능</a:t>
                      </a: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 </a:t>
                      </a:r>
                      <a:r>
                        <a:rPr lang="ko-KR" altLang="en-US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부팅 이후</a:t>
                      </a:r>
                      <a:r>
                        <a:rPr lang="en-US" altLang="ko-KR" sz="700" b="1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)</a:t>
                      </a:r>
                      <a:endParaRPr lang="ko-KR" altLang="ko-KR" sz="700" b="1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b="1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3645025"/>
            <a:ext cx="3046274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0x194D0401002f (GPS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수신 불가 상태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7FE0C2-0D1B-79C2-53B1-80D6771919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024" y="2924944"/>
            <a:ext cx="432000" cy="432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C65093-EAD3-418D-609E-0CA84B1B34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04" y="2348880"/>
            <a:ext cx="432000" cy="43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8E18468-4E35-D858-5102-2C062B35D3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024" y="2348880"/>
            <a:ext cx="432000" cy="432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DD8FF3-4E82-511B-F741-772668BF1359}"/>
              </a:ext>
            </a:extLst>
          </p:cNvPr>
          <p:cNvSpPr/>
          <p:nvPr/>
        </p:nvSpPr>
        <p:spPr>
          <a:xfrm>
            <a:off x="8841432" y="620688"/>
            <a:ext cx="86409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2B9C1-1D91-2331-4993-EAE8430C8D5D}"/>
              </a:ext>
            </a:extLst>
          </p:cNvPr>
          <p:cNvSpPr txBox="1"/>
          <p:nvPr/>
        </p:nvSpPr>
        <p:spPr>
          <a:xfrm>
            <a:off x="7905328" y="3140968"/>
            <a:ext cx="1368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V1.1 updated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277957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5)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소등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855015"/>
              </p:ext>
            </p:extLst>
          </p:nvPr>
        </p:nvGraphicFramePr>
        <p:xfrm>
          <a:off x="992560" y="1340768"/>
          <a:ext cx="7821241" cy="2632149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6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소등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TBT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소등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안전운전 소등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 : TBT,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안전운전 소등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 : </a:t>
                      </a:r>
                      <a:r>
                        <a:rPr 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자차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속도 소등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 : TBT, </a:t>
                      </a:r>
                      <a:r>
                        <a:rPr 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자차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속도 소등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안전운전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자차속도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소등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전체 소등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목적지 정보 소등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안전운전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차자속도 소등에 안전운전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-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표지판 소등 포함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1" y="4077072"/>
            <a:ext cx="3110394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0x194D0501052f (TBT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와 자차속도 소등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82100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6)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Device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조도 정보 요청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196761"/>
              </p:ext>
            </p:extLst>
          </p:nvPr>
        </p:nvGraphicFramePr>
        <p:xfrm>
          <a:off x="992560" y="1340769"/>
          <a:ext cx="7821241" cy="1646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타입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현재 조도 상태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strike="sng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: Buzzer </a:t>
                      </a:r>
                      <a:r>
                        <a:rPr lang="ko-KR" sz="700" strike="sng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상태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 : F/W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정보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AMOLED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장치에서는 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Buzzer </a:t>
                      </a:r>
                      <a:r>
                        <a:rPr 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사용안함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2996953"/>
            <a:ext cx="3070319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0x194D0601012f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조도 상태 정보 요청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346684" y="3663949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7)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Device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조도 정보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183607"/>
              </p:ext>
            </p:extLst>
          </p:nvPr>
        </p:nvGraphicFramePr>
        <p:xfrm>
          <a:off x="1042380" y="4168006"/>
          <a:ext cx="7821241" cy="1718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0x0B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day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~ 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밝기 단계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(0~5)</a:t>
                      </a:r>
                      <a:b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1~5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수동 밝기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night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~ 5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밝기 단계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(0~5)</a:t>
                      </a:r>
                      <a:b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1~5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수동 밝기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372" y="6021288"/>
            <a:ext cx="3355653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0x194E0B0205052f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낮 밝기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5, 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밤 밝기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5)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13801" y="876264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412250063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8)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조도 설정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286" y="3486997"/>
            <a:ext cx="3390919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0x194D070205052f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낮 밝기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5, 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밤 밝기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5)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319970"/>
              </p:ext>
            </p:extLst>
          </p:nvPr>
        </p:nvGraphicFramePr>
        <p:xfrm>
          <a:off x="1001720" y="1340769"/>
          <a:ext cx="7821241" cy="1847797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0x07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day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~ 5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밝기 단계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(0~5)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1~5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수동 밝기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Night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~ 5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밝기 단계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(0~5)</a:t>
                      </a:r>
                      <a:b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1~5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수동 밝기</a:t>
                      </a: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단말 연결 완료 또는 설정 변경 시 전송</a:t>
                      </a:r>
                      <a:endParaRPr lang="ko-KR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AutoShape 761">
            <a:extLst>
              <a:ext uri="{FF2B5EF4-FFF2-40B4-BE49-F238E27FC236}">
                <a16:creationId xmlns:a16="http://schemas.microsoft.com/office/drawing/2014/main" id="{5A347903-0BFA-A8B6-1D84-E8377D3D6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092626"/>
            <a:ext cx="494416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9)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현재 시간 전송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(BLE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연결 </a:t>
            </a:r>
            <a:r>
              <a:rPr lang="ko-KR" altLang="en-US" sz="1800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완료시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회 전송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7F085D5-5A47-D5BA-C27C-1216C95C4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6309321"/>
            <a:ext cx="5019570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0x194D0932303235303631383138343230302f (20250618184200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로 설정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B35ECBC-1384-5080-4D92-158E3661D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23274"/>
              </p:ext>
            </p:extLst>
          </p:nvPr>
        </p:nvGraphicFramePr>
        <p:xfrm>
          <a:off x="1001720" y="4725144"/>
          <a:ext cx="7821241" cy="1322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0x09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시간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14*8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yyyyMMddHHmmss</a:t>
                      </a:r>
                      <a:endParaRPr lang="en-US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문자에 대한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UTF-8 </a:t>
                      </a:r>
                      <a:r>
                        <a:rPr lang="ko-KR" altLang="ko-KR" sz="70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바이트를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16</a:t>
                      </a:r>
                      <a:r>
                        <a:rPr lang="ko-KR" altLang="ko-KR" sz="70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진수로 변환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13801" y="893286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13801" y="1147088"/>
            <a:ext cx="864096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377961587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10)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목적지 정보 전송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3429000"/>
            <a:ext cx="4423253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0x194D0A05012C0001F42f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남은 시간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남은 거리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500m)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228609"/>
              </p:ext>
            </p:extLst>
          </p:nvPr>
        </p:nvGraphicFramePr>
        <p:xfrm>
          <a:off x="1001720" y="1340770"/>
          <a:ext cx="7821241" cy="1915121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0x0A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남은 시간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분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300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분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: 0x012C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남은 거리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(m)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                  </a:t>
                      </a: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목적지 </a:t>
                      </a:r>
                      <a:r>
                        <a:rPr lang="ko-KR" altLang="en-US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도착시</a:t>
                      </a: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아이콘 표시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AutoShape 761">
            <a:extLst>
              <a:ext uri="{FF2B5EF4-FFF2-40B4-BE49-F238E27FC236}">
                <a16:creationId xmlns:a16="http://schemas.microsoft.com/office/drawing/2014/main" id="{A90E2B79-81DA-C85E-86E8-1682578A2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005064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목적지 정보 소등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4F41D09-5D43-4409-8A7D-437AC6DD2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4" y="6293767"/>
            <a:ext cx="3405347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0x194D0B01002f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남은 시간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남은 거리 소등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048D01E-E0AB-EDCA-93DC-E292EFC99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18352"/>
              </p:ext>
            </p:extLst>
          </p:nvPr>
        </p:nvGraphicFramePr>
        <p:xfrm>
          <a:off x="1001720" y="4637583"/>
          <a:ext cx="7821241" cy="1322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0x0B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비어있는 값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77A62E1-DEBB-92D9-DADB-987E9554B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208" y="2708920"/>
            <a:ext cx="360040" cy="360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DECA79-A985-F85E-9DFD-4E0DE80B397A}"/>
              </a:ext>
            </a:extLst>
          </p:cNvPr>
          <p:cNvSpPr txBox="1"/>
          <p:nvPr/>
        </p:nvSpPr>
        <p:spPr>
          <a:xfrm>
            <a:off x="8566228" y="2852936"/>
            <a:ext cx="1345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V1.2 updated</a:t>
            </a:r>
            <a:endParaRPr lang="ko-KR" altLang="en-US" sz="1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5457E5-1B62-4F2B-CDBF-2AC062F94031}"/>
              </a:ext>
            </a:extLst>
          </p:cNvPr>
          <p:cNvSpPr/>
          <p:nvPr/>
        </p:nvSpPr>
        <p:spPr>
          <a:xfrm>
            <a:off x="6465168" y="2708920"/>
            <a:ext cx="2160240" cy="432048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1449F4-706E-D93C-FD50-963DA153C7ED}"/>
              </a:ext>
            </a:extLst>
          </p:cNvPr>
          <p:cNvSpPr/>
          <p:nvPr/>
        </p:nvSpPr>
        <p:spPr>
          <a:xfrm>
            <a:off x="8841432" y="908720"/>
            <a:ext cx="864096" cy="246221"/>
          </a:xfrm>
          <a:prstGeom prst="rect">
            <a:avLst/>
          </a:prstGeom>
          <a:solidFill>
            <a:srgbClr val="3181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366102785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목적지 모드 전송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88" y="3374762"/>
            <a:ext cx="2735291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0x194D0C01002f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안전운행 모드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41389"/>
              </p:ext>
            </p:extLst>
          </p:nvPr>
        </p:nvGraphicFramePr>
        <p:xfrm>
          <a:off x="991288" y="1492594"/>
          <a:ext cx="7821241" cy="1764485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5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0x0C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목적지 설정 여부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u="non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 u="non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0, 1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안전운행 모드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1: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목적지 설정 모드</a:t>
                      </a: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baseline="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연결시</a:t>
                      </a:r>
                      <a:endParaRPr lang="ko-KR" altLang="en-US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baseline="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변경시마다</a:t>
                      </a: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안전운전 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-&gt;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목적지 설정 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or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목적시 설정 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-&gt;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안전운전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AutoShape 761">
            <a:extLst>
              <a:ext uri="{FF2B5EF4-FFF2-40B4-BE49-F238E27FC236}">
                <a16:creationId xmlns:a16="http://schemas.microsoft.com/office/drawing/2014/main" id="{A90E2B79-81DA-C85E-86E8-1682578A2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005064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13)</a:t>
            </a:r>
            <a:r>
              <a:rPr lang="en-US" altLang="ko-KR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목적지 도착 전송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048D01E-E0AB-EDCA-93DC-E292EFC99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51604"/>
              </p:ext>
            </p:extLst>
          </p:nvPr>
        </p:nvGraphicFramePr>
        <p:xfrm>
          <a:off x="1001720" y="4637583"/>
          <a:ext cx="7821241" cy="1322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비어있는 값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20" y="6078059"/>
            <a:ext cx="2600639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0x194D0D01002f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목적지 도착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41432" y="819980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169647269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3" y="708250"/>
            <a:ext cx="285593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14)</a:t>
            </a:r>
            <a:r>
              <a:rPr lang="en-US" altLang="ko-KR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도로명 전송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20" y="2773256"/>
            <a:ext cx="3395729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0x194D0E06EAB080EC82B02f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도로명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가산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75310"/>
              </p:ext>
            </p:extLst>
          </p:nvPr>
        </p:nvGraphicFramePr>
        <p:xfrm>
          <a:off x="1001720" y="1340770"/>
          <a:ext cx="7821241" cy="1322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가변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도로명</a:t>
                      </a: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길이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도로명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가변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UTF-8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인코딩</a:t>
                      </a: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42482" y="880493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239800472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Device F/W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정보 요청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992560" y="1340769"/>
          <a:ext cx="7821241" cy="1646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타입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현재 조도 상태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: Buzzer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상태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 : F/W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정보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AMOLED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장치에서는 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Buzzer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사용안함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2996953"/>
            <a:ext cx="3070319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0x194D0601012f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조도 상태 정보 요청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346684" y="3663949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Device F/W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정보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412368"/>
              </p:ext>
            </p:extLst>
          </p:nvPr>
        </p:nvGraphicFramePr>
        <p:xfrm>
          <a:off x="1042380" y="4168006"/>
          <a:ext cx="7821241" cy="1718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0x0C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0x0A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모델명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+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버전 데이터 길이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모델명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String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자리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버전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String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자리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373" y="6021288"/>
            <a:ext cx="4663704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0x194E0C0A564950453530343037312f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모델명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VIPE,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버전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504071)</a:t>
            </a:r>
            <a:endParaRPr lang="ko-KR" altLang="ko-KR" sz="1000" u="none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039886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</a:t>
            </a:r>
            <a:r>
              <a:rPr lang="ko-KR" altLang="en-US" sz="2400" u="none" ker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송신 프로토콜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3)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시간 업데이트 요청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231417"/>
              </p:ext>
            </p:extLst>
          </p:nvPr>
        </p:nvGraphicFramePr>
        <p:xfrm>
          <a:off x="992560" y="1340769"/>
          <a:ext cx="7821241" cy="1646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타입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2996953"/>
            <a:ext cx="1783108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0x194E0D01002f</a:t>
            </a:r>
          </a:p>
        </p:txBody>
      </p:sp>
    </p:spTree>
    <p:extLst>
      <p:ext uri="{BB962C8B-B14F-4D97-AF65-F5344CB8AC3E}">
        <p14:creationId xmlns:p14="http://schemas.microsoft.com/office/powerpoint/2010/main" val="16607796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F/W 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 정보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284471"/>
              </p:ext>
            </p:extLst>
          </p:nvPr>
        </p:nvGraphicFramePr>
        <p:xfrm>
          <a:off x="992560" y="1340769"/>
          <a:ext cx="7821241" cy="4703249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0x000D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버전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+ 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데이터 길이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* OTA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관련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App to Device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프로토콜의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data length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는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16bit(2Byte)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로 통일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버전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String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자리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F/W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File size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61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업데이트 타입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일반 업데이트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강제 업데이트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다운그레이드 포함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일반 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압축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강제 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alt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압축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압축여부는 서버의 정보파일에 기재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ex)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- 0: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일반업데이트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- 1: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강제 업데이트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- 2: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일반업데이트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압축파일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- 3: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강제 업데이트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압축파일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CRC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서버에서 전송해 주는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Checksum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값을 그대로 전송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앱에서 별도 계산 필요 없음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6010721"/>
            <a:ext cx="6510363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0x194F01000D353034303731000BB6700005262f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버전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“504071”,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파일길이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767600,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일반 업데이트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032977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F/W 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 요청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82814"/>
              </p:ext>
            </p:extLst>
          </p:nvPr>
        </p:nvGraphicFramePr>
        <p:xfrm>
          <a:off x="992560" y="1340769"/>
          <a:ext cx="7821241" cy="2366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결과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0: Update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안함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1: Update OK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block size(SBS)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: FW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를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Block Size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크기로 잘라서 보냄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3933057"/>
            <a:ext cx="4163567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0x194F02030101F42f (500B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단위로 펌웨어 업데이트 요청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32597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F/W 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3)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 시작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957964"/>
              </p:ext>
            </p:extLst>
          </p:nvPr>
        </p:nvGraphicFramePr>
        <p:xfrm>
          <a:off x="992560" y="1340769"/>
          <a:ext cx="7821241" cy="2701057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+ SBS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데이터 길이 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: sequence no(2Byte) +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 블록 사이즈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(SBS)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ex) SBS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500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 경우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2+ 500 = 502 = 0x01F6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전송하는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F/W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블록의 순서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( 0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부터 시작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F/W data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* 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크기로 전송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84121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F/W 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4)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 결과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438759"/>
              </p:ext>
            </p:extLst>
          </p:nvPr>
        </p:nvGraphicFramePr>
        <p:xfrm>
          <a:off x="992560" y="1186186"/>
          <a:ext cx="7821241" cy="2366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0x04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App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에서 전송한 시퀀스 번호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Error Code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0: No Error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1: Retry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전송취소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3634457"/>
            <a:ext cx="3791670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0x194F04030002002f (Sequence No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번 수신 성공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" name="AutoShape 761">
            <a:extLst>
              <a:ext uri="{FF2B5EF4-FFF2-40B4-BE49-F238E27FC236}">
                <a16:creationId xmlns:a16="http://schemas.microsoft.com/office/drawing/2014/main" id="{2D418EA8-9E9E-38D8-6AB3-842BA2DA0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4" y="414908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5)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업데이트 완료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58B103-6F95-2835-147C-97F7B42F7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637849"/>
              </p:ext>
            </p:extLst>
          </p:nvPr>
        </p:nvGraphicFramePr>
        <p:xfrm>
          <a:off x="992560" y="4653136"/>
          <a:ext cx="7821241" cy="1646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Error Code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No Error ( Complete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Error ( Fail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App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에서는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No Error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수신 시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H/W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 재부팅 된다는 팝업을 표출한다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id="{03948763-BDCE-30BC-6A0E-192FE27B9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6396881"/>
            <a:ext cx="3126424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0x194F0501002f (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펌웨어 업데이트 완료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243756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부팅 영상 전송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부팅 영상 버전 요청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992560" y="1340769"/>
          <a:ext cx="7821241" cy="164679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0x21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Status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86566" y="3326602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부팅 영상 버전정보 응답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82262" y="3815105"/>
          <a:ext cx="7821241" cy="2603441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0x22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버전정보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YYYYMMDD##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String 10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자리</a:t>
                      </a:r>
                      <a:endParaRPr lang="en-US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## : Index (01~99)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Ex) 2025061801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block size(SBS)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: FW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를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Block Size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크기로 잘라서 보냄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1) </a:t>
                      </a:r>
                      <a:r>
                        <a:rPr lang="ko-KR" alt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이어받기 </a:t>
                      </a:r>
                      <a:r>
                        <a:rPr lang="ko-KR" altLang="ko-KR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아닌경우</a:t>
                      </a:r>
                      <a:r>
                        <a:rPr lang="ko-KR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</a:t>
                      </a:r>
                      <a:r>
                        <a:rPr lang="ko-KR" alt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으로 전달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2)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영상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이어받기 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의 경우 해당영상 마지막 인덱스 전송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2996953"/>
            <a:ext cx="1832800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0x194D2101002f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6442770"/>
            <a:ext cx="7210876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 4F 22 0E 32303235303631383031 01F4 0005 2f (“2025061801” string, 500B 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5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번째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Sequence No)</a:t>
            </a:r>
          </a:p>
        </p:txBody>
      </p:sp>
    </p:spTree>
    <p:extLst>
      <p:ext uri="{BB962C8B-B14F-4D97-AF65-F5344CB8AC3E}">
        <p14:creationId xmlns:p14="http://schemas.microsoft.com/office/powerpoint/2010/main" val="236821981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부팅 영상 전송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3)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전송 영상 정보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992560" y="1340769"/>
          <a:ext cx="7821241" cy="2101540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0x23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0x10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파일 전체 크기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File size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버전정보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YYYYMMDD##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## : Index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Ex) 2025061801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CRC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서버에서 전송해 주는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Checksum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값을 그대로 전송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앱에서 별도 계산 필요 없음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AutoShape 761"/>
          <p:cNvSpPr>
            <a:spLocks noChangeArrowheads="1"/>
          </p:cNvSpPr>
          <p:nvPr/>
        </p:nvSpPr>
        <p:spPr bwMode="auto">
          <a:xfrm>
            <a:off x="309425" y="4001723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4)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부팅 영상 전송 시작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005121" y="4634242"/>
          <a:ext cx="7821241" cy="2081985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0x4D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0x24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+ SBS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 (2Byte) +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 블록 사이즈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(SBS)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ex) SBS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500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 경우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2+ 500 = 502 = 0x01F6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4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버전정보 요청에 따라 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인덱스 값이 달라짐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1) ‘0’ </a:t>
                      </a:r>
                      <a:r>
                        <a:rPr lang="ko-KR" alt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 때 영상 데이터 처음부터 전송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2) </a:t>
                      </a:r>
                      <a:r>
                        <a:rPr lang="ko-KR" alt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이어받기 경우에는 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</a:t>
                      </a:r>
                      <a:r>
                        <a:rPr lang="ko-KR" alt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번째부터 전송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F/W data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* 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크기로 전송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3501008"/>
            <a:ext cx="7274996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 4D 23 10 000F4240 32303235303631383031 01F4 0526 2f (1,000,000B 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“2025061801” string, CRC)</a:t>
            </a:r>
          </a:p>
        </p:txBody>
      </p:sp>
    </p:spTree>
    <p:extLst>
      <p:ext uri="{BB962C8B-B14F-4D97-AF65-F5344CB8AC3E}">
        <p14:creationId xmlns:p14="http://schemas.microsoft.com/office/powerpoint/2010/main" val="10010892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부팅 영상 전송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5)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수신 결과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992560" y="1340769"/>
          <a:ext cx="7821241" cy="2069028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0x25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App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에서 전송한 시퀀스 번호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Error Code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0: No Error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1: Retry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전송취소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96864" y="4010579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6)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수신 완료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92560" y="4643098"/>
          <a:ext cx="7821241" cy="1612884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0x4F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0x26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Error Code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No Error ( Complete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Error ( Fail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File Size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체크하여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Complete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처리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6370762"/>
            <a:ext cx="3043068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0x194F2601002f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부팅 영상 수신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완료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3" y="3501008"/>
            <a:ext cx="3791670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0x194F25030002002f (Sequence No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번 수신 성공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735401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이미지 전송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정보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458350"/>
              </p:ext>
            </p:extLst>
          </p:nvPr>
        </p:nvGraphicFramePr>
        <p:xfrm>
          <a:off x="992560" y="1340769"/>
          <a:ext cx="7821241" cy="3271726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0x0006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이미지순서 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+ 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이미지 길이 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+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이미지 타입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이미지순서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~ 5</a:t>
                      </a:r>
                      <a:endParaRPr lang="ko-KR" alt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각 번호는 배경 이미지 순서를 의미</a:t>
                      </a: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aseline="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인트로</a:t>
                      </a:r>
                      <a:r>
                        <a:rPr lang="ko-KR" altLang="en-US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이미지의 경우 </a:t>
                      </a:r>
                      <a:r>
                        <a:rPr lang="en-US" altLang="ko-KR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ko-KR" altLang="en-US" sz="700" baseline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으로 전달</a:t>
                      </a: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이미지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File size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이미지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인트로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배경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타입이 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0(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인트로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인 경우 이미지 순서값 무시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4839175"/>
            <a:ext cx="4944230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0x195001000601000BB670102f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이미지순서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 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파일길이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767,600, 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13801" y="876264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227580622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이미지 전송</a:t>
            </a:r>
            <a:endParaRPr lang="ko-KR" altLang="en-US" sz="24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데이터 전송 </a:t>
            </a: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012517"/>
              </p:ext>
            </p:extLst>
          </p:nvPr>
        </p:nvGraphicFramePr>
        <p:xfrm>
          <a:off x="992560" y="1340769"/>
          <a:ext cx="7821241" cy="2667148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0x02</a:t>
                      </a:r>
                      <a:endParaRPr lang="ko-KR" sz="70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 + SBS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데이터 길이 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: sequence no(2Byte) +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 블록 사이즈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(SBS)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ex) SBS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500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일 경우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2+ 500 = 502 = 0x01F6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전송하는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F/W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블록의 순서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( 0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부터 시작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F/W data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* 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SBS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크기로 전송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13801" y="876264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272121302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이미지 전송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5448224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3)</a:t>
            </a: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데이터 전송 결과 전달 </a:t>
            </a: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212484"/>
              </p:ext>
            </p:extLst>
          </p:nvPr>
        </p:nvGraphicFramePr>
        <p:xfrm>
          <a:off x="992560" y="1186186"/>
          <a:ext cx="7821241" cy="2332884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0x03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Sequence No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App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에서 전송한 시퀀스 번호</a:t>
                      </a: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Error Code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0: No Error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1: Retry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2: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전송취소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3634457"/>
            <a:ext cx="3791670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0x195003030002002f (Sequence No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번 수신 성공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" name="AutoShape 761">
            <a:extLst>
              <a:ext uri="{FF2B5EF4-FFF2-40B4-BE49-F238E27FC236}">
                <a16:creationId xmlns:a16="http://schemas.microsoft.com/office/drawing/2014/main" id="{2D418EA8-9E9E-38D8-6AB3-842BA2DA0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4" y="4149080"/>
            <a:ext cx="938103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4)</a:t>
            </a: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수신 완료 전달 </a:t>
            </a:r>
            <a:r>
              <a:rPr lang="en-US" altLang="ko-KR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 : </a:t>
            </a:r>
            <a:r>
              <a:rPr lang="ko-KR" altLang="en-US" sz="1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전체 이미지 데이터 수신을 완료 했을 때 전달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58B103-6F95-2835-147C-97F7B42F7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15002"/>
              </p:ext>
            </p:extLst>
          </p:nvPr>
        </p:nvGraphicFramePr>
        <p:xfrm>
          <a:off x="992560" y="4653136"/>
          <a:ext cx="7821241" cy="1612884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0x04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Error Code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 : No Error ( Complete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 : Error ( Fail )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App </a:t>
                      </a:r>
                      <a:r>
                        <a:rPr 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에서는</a:t>
                      </a: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No Error 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수신 시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다음 이미지가 있는 경우 전달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id="{03948763-BDCE-30BC-6A0E-192FE27B9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52" y="6396881"/>
            <a:ext cx="3004596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0x19500401002f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업로드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완료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13801" y="876264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401015800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이미지 전송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5)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삭제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63087"/>
              </p:ext>
            </p:extLst>
          </p:nvPr>
        </p:nvGraphicFramePr>
        <p:xfrm>
          <a:off x="992560" y="1340769"/>
          <a:ext cx="7821241" cy="192911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이미지순서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r>
                        <a:rPr lang="ko-KR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자리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3383112"/>
            <a:ext cx="4123492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0x1950050835303430373131312f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이미지명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“50407111”)</a:t>
            </a:r>
          </a:p>
        </p:txBody>
      </p:sp>
      <p:sp>
        <p:nvSpPr>
          <p:cNvPr id="11" name="AutoShape 761"/>
          <p:cNvSpPr>
            <a:spLocks noChangeArrowheads="1"/>
          </p:cNvSpPr>
          <p:nvPr/>
        </p:nvSpPr>
        <p:spPr bwMode="auto">
          <a:xfrm>
            <a:off x="296864" y="3954372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6)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자동 모드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62971"/>
              </p:ext>
            </p:extLst>
          </p:nvPr>
        </p:nvGraphicFramePr>
        <p:xfrm>
          <a:off x="992560" y="4473614"/>
          <a:ext cx="7821241" cy="192911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0x06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</a:t>
                      </a: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수동 모드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자동</a:t>
                      </a:r>
                      <a:endParaRPr lang="en-US" alt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1: </a:t>
                      </a:r>
                      <a:r>
                        <a:rPr lang="ko-KR" alt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수동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6515957"/>
            <a:ext cx="2145386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0x19500601002f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자동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13801" y="876264"/>
            <a:ext cx="864096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55379258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9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7997" indent="-507997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이미지 전송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761"/>
          <p:cNvSpPr>
            <a:spLocks noChangeArrowheads="1"/>
          </p:cNvSpPr>
          <p:nvPr/>
        </p:nvSpPr>
        <p:spPr bwMode="auto">
          <a:xfrm>
            <a:off x="296864" y="708250"/>
            <a:ext cx="4656137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7)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상태 수신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(Device -&gt; APP)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01136"/>
              </p:ext>
            </p:extLst>
          </p:nvPr>
        </p:nvGraphicFramePr>
        <p:xfrm>
          <a:off x="992560" y="1340769"/>
          <a:ext cx="7821241" cy="192911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0x07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이미지순서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 ~ 5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1" hangingPunct="1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각 번호는 배경 이미지 순서를 의미</a:t>
                      </a:r>
                      <a:endParaRPr lang="en-US" altLang="ko-KR" sz="700" baseline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3383112"/>
            <a:ext cx="2674377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0x19500701012f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이미지순서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</a:p>
        </p:txBody>
      </p:sp>
      <p:sp>
        <p:nvSpPr>
          <p:cNvPr id="11" name="AutoShape 761"/>
          <p:cNvSpPr>
            <a:spLocks noChangeArrowheads="1"/>
          </p:cNvSpPr>
          <p:nvPr/>
        </p:nvSpPr>
        <p:spPr bwMode="auto">
          <a:xfrm>
            <a:off x="296864" y="3954372"/>
            <a:ext cx="681637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1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8)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상태 전달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(APP -&gt; Device) (BLE 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연결 완료시 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회 전송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235445"/>
              </p:ext>
            </p:extLst>
          </p:nvPr>
        </p:nvGraphicFramePr>
        <p:xfrm>
          <a:off x="992560" y="4473614"/>
          <a:ext cx="7821241" cy="1929113"/>
        </p:xfrm>
        <a:graphic>
          <a:graphicData uri="http://schemas.openxmlformats.org/drawingml/2006/table">
            <a:tbl>
              <a:tblPr firstRow="1" firstCol="1" bandRow="1"/>
              <a:tblGrid>
                <a:gridCol w="14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3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메세지</a:t>
                      </a: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타입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 목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길이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(Bit)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값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8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</a:t>
                      </a:r>
                      <a:endParaRPr lang="ko-KR" sz="8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28533" marR="28533" marT="28533" marB="28533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0x50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Command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Length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0x01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 PayLoad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이미지순서</a:t>
                      </a: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 ~ 5</a:t>
                      </a:r>
                      <a:endParaRPr lang="ko-KR" sz="7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endParaRPr lang="ko-KR" sz="7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6515957"/>
            <a:ext cx="2674377" cy="2265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898" indent="-342898">
              <a:spcBef>
                <a:spcPct val="20000"/>
              </a:spcBef>
            </a:pP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Example : 0x19500801012f (</a:t>
            </a:r>
            <a:r>
              <a:rPr lang="ko-KR" altLang="en-US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이미지순서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ko-KR" sz="1000" u="none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44CBA2-174B-9D1B-C4D5-E7D0609B7A9A}"/>
              </a:ext>
            </a:extLst>
          </p:cNvPr>
          <p:cNvSpPr/>
          <p:nvPr/>
        </p:nvSpPr>
        <p:spPr>
          <a:xfrm>
            <a:off x="8820522" y="819539"/>
            <a:ext cx="864096" cy="246221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solidFill>
                  <a:srgbClr val="FFFF00"/>
                </a:solidFill>
              </a:rPr>
              <a:t>변경페이지</a:t>
            </a:r>
          </a:p>
        </p:txBody>
      </p:sp>
    </p:spTree>
    <p:extLst>
      <p:ext uri="{BB962C8B-B14F-4D97-AF65-F5344CB8AC3E}">
        <p14:creationId xmlns:p14="http://schemas.microsoft.com/office/powerpoint/2010/main" val="298555064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194076292</TotalTime>
  <Words>3503</Words>
  <Application>Microsoft Office PowerPoint</Application>
  <PresentationFormat>A4 용지(210x297mm)</PresentationFormat>
  <Paragraphs>1441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HY헤드라인M</vt:lpstr>
      <vt:lpstr>굴림</vt:lpstr>
      <vt:lpstr>맑은 고딕</vt:lpstr>
      <vt:lpstr>현대하모니 M</vt:lpstr>
      <vt:lpstr>Arial</vt:lpstr>
      <vt:lpstr>Wingdings</vt:lpstr>
      <vt:lpstr>1_기본 디자인</vt:lpstr>
      <vt:lpstr>디자인 사용자 지정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Mobis</dc:creator>
  <cp:lastModifiedBy>Hyun Seo</cp:lastModifiedBy>
  <cp:revision>1251</cp:revision>
  <cp:lastPrinted>2014-02-11T08:53:40Z</cp:lastPrinted>
  <dcterms:created xsi:type="dcterms:W3CDTF">2008-08-28T07:58:34Z</dcterms:created>
  <dcterms:modified xsi:type="dcterms:W3CDTF">2026-03-23T09:24:39Z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000800aa7c0000000000010243100207e6000400038000</vt:lpwstr>
  </property>
  <property fmtid="{D5CDD505-2E9C-101B-9397-08002B2CF9AE}" pid="3" name="MSIP_Label_cd0bc021-0c43-4029-a072-964d39f3070b_Enabled">
    <vt:lpwstr>true</vt:lpwstr>
  </property>
  <property fmtid="{D5CDD505-2E9C-101B-9397-08002B2CF9AE}" pid="4" name="MSIP_Label_cd0bc021-0c43-4029-a072-964d39f3070b_SetDate">
    <vt:lpwstr>2024-07-04T04:56:35Z</vt:lpwstr>
  </property>
  <property fmtid="{D5CDD505-2E9C-101B-9397-08002B2CF9AE}" pid="5" name="MSIP_Label_cd0bc021-0c43-4029-a072-964d39f3070b_Method">
    <vt:lpwstr>Privileged</vt:lpwstr>
  </property>
  <property fmtid="{D5CDD505-2E9C-101B-9397-08002B2CF9AE}" pid="6" name="MSIP_Label_cd0bc021-0c43-4029-a072-964d39f3070b_Name">
    <vt:lpwstr>일반(General)</vt:lpwstr>
  </property>
  <property fmtid="{D5CDD505-2E9C-101B-9397-08002B2CF9AE}" pid="7" name="MSIP_Label_cd0bc021-0c43-4029-a072-964d39f3070b_SiteId">
    <vt:lpwstr>7cf932c0-bced-4490-b11f-48d23b1fe0d9</vt:lpwstr>
  </property>
  <property fmtid="{D5CDD505-2E9C-101B-9397-08002B2CF9AE}" pid="8" name="MSIP_Label_cd0bc021-0c43-4029-a072-964d39f3070b_ActionId">
    <vt:lpwstr>c93def01-c639-4cfa-ac94-321b69d80bd2</vt:lpwstr>
  </property>
  <property fmtid="{D5CDD505-2E9C-101B-9397-08002B2CF9AE}" pid="9" name="MSIP_Label_cd0bc021-0c43-4029-a072-964d39f3070b_ContentBits">
    <vt:lpwstr>0</vt:lpwstr>
  </property>
</Properties>
</file>